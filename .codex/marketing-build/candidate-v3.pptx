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a34fec5e044c13" /><Relationship Type="http://schemas.openxmlformats.org/officeDocument/2006/relationships/extended-properties" Target="/docProps/app.xml" Id="Rf7bc271dc6194907" /><Relationship Type="http://schemas.openxmlformats.org/officeDocument/2006/relationships/officeDocument" Target="/ppt/presentation.xml" Id="Ra114b36196cf48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f40aeb125946ae"/>
  </p:sldMasterIdLst>
  <p:notesMasterIdLst>
    <p:notesMasterId xmlns:r="http://schemas.openxmlformats.org/officeDocument/2006/relationships" r:id="R045b61b2453a45c1"/>
  </p:notesMasterIdLst>
  <p:sldIdLst>
    <p:sldId xmlns:r="http://schemas.openxmlformats.org/officeDocument/2006/relationships" id="256" r:id="R5f24abbe51914a8f"/>
    <p:sldId xmlns:r="http://schemas.openxmlformats.org/officeDocument/2006/relationships" id="257" r:id="R6e5294149e554924"/>
    <p:sldId xmlns:r="http://schemas.openxmlformats.org/officeDocument/2006/relationships" id="258" r:id="Rb340edb977ac450a"/>
    <p:sldId xmlns:r="http://schemas.openxmlformats.org/officeDocument/2006/relationships" id="259" r:id="R0dd0672f6b27462b"/>
    <p:sldId xmlns:r="http://schemas.openxmlformats.org/officeDocument/2006/relationships" id="260" r:id="R0052ac25cc8945b1"/>
    <p:sldId xmlns:r="http://schemas.openxmlformats.org/officeDocument/2006/relationships" id="261" r:id="Rc7a0159d5bc74f40"/>
    <p:sldId xmlns:r="http://schemas.openxmlformats.org/officeDocument/2006/relationships" id="262" r:id="R5406261733df44ca"/>
    <p:sldId xmlns:r="http://schemas.openxmlformats.org/officeDocument/2006/relationships" id="263" r:id="R789cd56f4cc24e57"/>
    <p:sldId xmlns:r="http://schemas.openxmlformats.org/officeDocument/2006/relationships" id="264" r:id="Rc773b5107edd48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7d7f47c5704790" /><Relationship Type="http://schemas.openxmlformats.org/officeDocument/2006/relationships/slideMaster" Target="/ppt/slideMasters/slideMaster1.xml" Id="R7ef40aeb125946ae" /><Relationship Type="http://schemas.openxmlformats.org/officeDocument/2006/relationships/notesMaster" Target="/ppt/notesMasters/notesMaster1.xml" Id="R045b61b2453a45c1" /><Relationship Type="http://schemas.openxmlformats.org/officeDocument/2006/relationships/presProps" Target="/ppt/presProps.xml" Id="Rc85d6768e7a44f69" /><Relationship Type="http://schemas.openxmlformats.org/officeDocument/2006/relationships/tableStyles" Target="/ppt/tableStyles.xml" Id="R185acd36ac114916" /><Relationship Type="http://schemas.openxmlformats.org/officeDocument/2006/relationships/slide" Target="/ppt/slides/slide1.xml" Id="R5f24abbe51914a8f" /><Relationship Type="http://schemas.openxmlformats.org/officeDocument/2006/relationships/slide" Target="/ppt/slides/slide2.xml" Id="R6e5294149e554924" /><Relationship Type="http://schemas.openxmlformats.org/officeDocument/2006/relationships/slide" Target="/ppt/slides/slide3.xml" Id="Rb340edb977ac450a" /><Relationship Type="http://schemas.openxmlformats.org/officeDocument/2006/relationships/slide" Target="/ppt/slides/slide4.xml" Id="R0dd0672f6b27462b" /><Relationship Type="http://schemas.openxmlformats.org/officeDocument/2006/relationships/slide" Target="/ppt/slides/slide5.xml" Id="R0052ac25cc8945b1" /><Relationship Type="http://schemas.openxmlformats.org/officeDocument/2006/relationships/slide" Target="/ppt/slides/slide6.xml" Id="Rc7a0159d5bc74f40" /><Relationship Type="http://schemas.openxmlformats.org/officeDocument/2006/relationships/slide" Target="/ppt/slides/slide7.xml" Id="R5406261733df44ca" /><Relationship Type="http://schemas.openxmlformats.org/officeDocument/2006/relationships/slide" Target="/ppt/slides/slide8.xml" Id="R789cd56f4cc24e57" /><Relationship Type="http://schemas.openxmlformats.org/officeDocument/2006/relationships/slide" Target="/ppt/slides/slide9.xml" Id="Rc773b5107edd48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2934404cbb46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bed282004c4151" /><Relationship Type="http://schemas.openxmlformats.org/officeDocument/2006/relationships/notesMaster" Target="/ppt/notesMasters/notesMaster1.xml" Id="Re075658b007848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90458e738b424e" /><Relationship Type="http://schemas.openxmlformats.org/officeDocument/2006/relationships/notesMaster" Target="/ppt/notesMasters/notesMaster1.xml" Id="R8196aee9e1ee42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fd5577dacc48fe" /><Relationship Type="http://schemas.openxmlformats.org/officeDocument/2006/relationships/notesMaster" Target="/ppt/notesMasters/notesMaster1.xml" Id="Ra01582bd0cac4d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d8f1b325f64fd2" /><Relationship Type="http://schemas.openxmlformats.org/officeDocument/2006/relationships/notesMaster" Target="/ppt/notesMasters/notesMaster1.xml" Id="Rbc9c4b8e68794f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c7342966d2422d" /><Relationship Type="http://schemas.openxmlformats.org/officeDocument/2006/relationships/notesMaster" Target="/ppt/notesMasters/notesMaster1.xml" Id="R520597b4c57a44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c6a68bf4ae448f" /><Relationship Type="http://schemas.openxmlformats.org/officeDocument/2006/relationships/notesMaster" Target="/ppt/notesMasters/notesMaster1.xml" Id="R8358915e6b1e46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f286e044a94bdb" /><Relationship Type="http://schemas.openxmlformats.org/officeDocument/2006/relationships/notesMaster" Target="/ppt/notesMasters/notesMaster1.xml" Id="R4e971e0b413a44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ab0e83fda24c33" /><Relationship Type="http://schemas.openxmlformats.org/officeDocument/2006/relationships/notesMaster" Target="/ppt/notesMasters/notesMaster1.xml" Id="R919e7b44b61147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4771c546e9432b" /><Relationship Type="http://schemas.openxmlformats.org/officeDocument/2006/relationships/notesMaster" Target="/ppt/notesMasters/notesMaster1.xml" Id="Rb8e2b525ac834c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 de ventas enfocada en gestión deportiva y administrativa. El módulo de ranking queda fuera del alcance de esta presentación. La disponibilidad depende de módulos activos y configuración.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como escenario frecuente para validar con el cliente. Preguntar cuáles de estos pasos hoy dependen de hojas, chats o registros separados. No afirmar que todos los clubes operan igual.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Flujo comparativo conceptual basado en las rutas disponibles de jugadores, categorías, partidos y convocatorias. Evitar afirmar automatización o integración automática con chat; el beneficio esperado debe medirse en 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Capturas de demostración de los módulos de partidos y convocatorias. No corresponden a un club cliente ni representan marcadores o datos reales. Rutas de producto verificadas en SportCoreOS-web/src/app/app.routes.ts.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captura de cartera es ilustrativa e incluye nombres, montos y fechas ficticias. No usar como tarifa, cotización o caso de cliente. La interfaz contiene opción PSE/Wompi, pero disponibilidad y operación de pasarelas deben validarse con el equipo antes de comprometerlas comercialmente.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captura de canchas es demostrativa. El nombre de la sede, fechas, tarifas y disponibilidad visibles son ficticios. No presentar el valor mostrado como precio real. Las capacidades comerciales dependen de módulos activos.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captura de boletín incluye perfil, texto de análisis y métricas generadas para una muestra; ningún valor ni interpretación se presenta como evaluación real. El módulo debe validarse con información autorizada, metodología del club y revisión del equipo técnico. No es diagnóstico médico.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portal para padres está identificado como módulo. Presentar como canal para información que el club decida habilitar; no asegurar comunicaciones automáticas. Definir roles, permisos y tratamiento de datos de menores antes de la puesta en marcha.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comercial: proponer seleccionar de 2 a 3 procesos para un piloto y levantar la línea base antes de configurar. Los indicadores son propuestas, no resultados garantizados. Definir duración, responsables y objetivos con el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a5eb0610d44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31f1112d3243cb" /><Relationship Type="http://schemas.openxmlformats.org/officeDocument/2006/relationships/slideLayout" Target="/ppt/slideLayouts/slideLayout1.xml" Id="R2e50f52691a847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50f52691a847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26dc2096e4540" /><Relationship Type="http://schemas.openxmlformats.org/officeDocument/2006/relationships/image" Target="/ppt/media/image.jpeg" Id="R4188b6e0b1734c2c" /><Relationship Type="http://schemas.openxmlformats.org/officeDocument/2006/relationships/notesSlide" Target="/ppt/notesSlides/notesSlide1.xml" Id="R526de2683ce149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9500dd1d04d43" /><Relationship Type="http://schemas.openxmlformats.org/officeDocument/2006/relationships/notesSlide" Target="/ppt/notesSlides/notesSlide2.xml" Id="R4a64d329db7c49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60b2c502d493e" /><Relationship Type="http://schemas.openxmlformats.org/officeDocument/2006/relationships/notesSlide" Target="/ppt/notesSlides/notesSlide3.xml" Id="R8ba71cbc803243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a1b2214724c8f" /><Relationship Type="http://schemas.openxmlformats.org/officeDocument/2006/relationships/image" Target="/ppt/media/image.png" Id="R95333c6474804c72" /><Relationship Type="http://schemas.openxmlformats.org/officeDocument/2006/relationships/image" Target="/ppt/media/image2.png" Id="R418fe108e4da4b19" /><Relationship Type="http://schemas.openxmlformats.org/officeDocument/2006/relationships/notesSlide" Target="/ppt/notesSlides/notesSlide4.xml" Id="Ra220f164b4a04c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c303e324d48fa" /><Relationship Type="http://schemas.openxmlformats.org/officeDocument/2006/relationships/image" Target="/ppt/media/image3.png" Id="R8a21bc408635489a" /><Relationship Type="http://schemas.openxmlformats.org/officeDocument/2006/relationships/notesSlide" Target="/ppt/notesSlides/notesSlide5.xml" Id="R31068acad6124c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e3c92a3ab478d" /><Relationship Type="http://schemas.openxmlformats.org/officeDocument/2006/relationships/image" Target="/ppt/media/image4.png" Id="Raa28fa204f52429a" /><Relationship Type="http://schemas.openxmlformats.org/officeDocument/2006/relationships/notesSlide" Target="/ppt/notesSlides/notesSlide6.xml" Id="Rbf4587db567146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0ef06892c484f" /><Relationship Type="http://schemas.openxmlformats.org/officeDocument/2006/relationships/image" Target="/ppt/media/image5.png" Id="R10b6186aa8124f35" /><Relationship Type="http://schemas.openxmlformats.org/officeDocument/2006/relationships/notesSlide" Target="/ppt/notesSlides/notesSlide7.xml" Id="Rf3c47bd72d234c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57f6e39004908" /><Relationship Type="http://schemas.openxmlformats.org/officeDocument/2006/relationships/notesSlide" Target="/ppt/notesSlides/notesSlide8.xml" Id="R6a2f6860756946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e152015494e0b" /><Relationship Type="http://schemas.openxmlformats.org/officeDocument/2006/relationships/notesSlide" Target="/ppt/notesSlides/notesSlide9.xml" Id="R57447779f38a4a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A7D2DE-0F44-4F24-8A99-D6650C90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8b6e0b1734c2c"/>
          <a:stretch xmlns:a="http://schemas.openxmlformats.org/drawingml/2006/main"/>
        </p:blipFill>
        <p:spPr>
          <a:xfrm xmlns:a="http://schemas.openxmlformats.org/drawingml/2006/main">
            <a:off x="647700" y="4191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4E1C9-4E43-4549-AA28-75C063F0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102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SportCoreOS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0B94A-23BC-4AFF-9D9B-5424FEB3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5476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 operación del club,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mejor conectada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9CACB-47F0-40D7-B7C5-6FD22C07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De la coordinación dispersa a una gestión deportiva y administrativa más clara.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3B9B8-6D0C-482B-97D0-148460DC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362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3B3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1079D-BB89-4C15-B49D-5966BA7A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E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EE7B7"/>
                </a:solidFill>
                <a:latin typeface="Helvetica Neue"/>
                <a:ea typeface="Helvetica Neue"/>
                <a:cs typeface="Helvetica Neue"/>
              </a:rPr>
              <a:t>PRESENTACIÓN PARA CLUBES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4DAC3-28D1-4F6B-B7E1-C41B2A6F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76375"/>
            <a:ext cx="409575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101E2D"/>
          </a:solidFill>
          <a:ln xmlns:a="http://schemas.openxmlformats.org/drawingml/2006/main" w="9525">
            <a:solidFill>
              <a:srgbClr val="25425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F7312-B2E7-4DA6-8054-1CCFF881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62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Una referencia para el día a día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09B5E-985C-4131-9575-AF66B0F5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28875"/>
            <a:ext cx="13144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2A3B"/>
          </a:solidFill>
          <a:ln xmlns:a="http://schemas.openxmlformats.org/drawingml/2006/main" w="9525">
            <a:solidFill>
              <a:srgbClr val="36516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7FEAC-BDB8-4E46-B691-45977B50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0507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1E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1E6C2"/>
                </a:solidFill>
                <a:latin typeface="Helvetica Neue"/>
                <a:ea typeface="Helvetica Neue"/>
                <a:cs typeface="Helvetica Neue"/>
              </a:rPr>
              <a:t>PLANTEL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29BCD-A40E-4668-A8EB-E6038936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28875"/>
            <a:ext cx="14668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2A3B"/>
          </a:solidFill>
          <a:ln xmlns:a="http://schemas.openxmlformats.org/drawingml/2006/main" w="9525">
            <a:solidFill>
              <a:srgbClr val="36516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45848-E0F2-4FAC-B4EB-6816B84A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05075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DD9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DD9E5"/>
                </a:solidFill>
                <a:latin typeface="Helvetica Neue"/>
                <a:ea typeface="Helvetica Neue"/>
                <a:cs typeface="Helvetica Neue"/>
              </a:rPr>
              <a:t>COMPETENCIA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C9157-39A4-4438-81FC-1D41906E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29025"/>
            <a:ext cx="13144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2A3B"/>
          </a:solidFill>
          <a:ln xmlns:a="http://schemas.openxmlformats.org/drawingml/2006/main" w="9525">
            <a:solidFill>
              <a:srgbClr val="36516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CF94E-2F48-4CE0-A7A5-0697FB3F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0522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1E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1E6C2"/>
                </a:solidFill>
                <a:latin typeface="Helvetica Neue"/>
                <a:ea typeface="Helvetica Neue"/>
                <a:cs typeface="Helvetica Neue"/>
              </a:rPr>
              <a:t>FINANZAS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304CD-2EDD-43B3-93E2-2825A88E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29025"/>
            <a:ext cx="14668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2A3B"/>
          </a:solidFill>
          <a:ln xmlns:a="http://schemas.openxmlformats.org/drawingml/2006/main" w="9525">
            <a:solidFill>
              <a:srgbClr val="36516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25B53-F102-4E13-B1DF-9FD4A9D5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05225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DD9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DD9E5"/>
                </a:solidFill>
                <a:latin typeface="Helvetica Neue"/>
                <a:ea typeface="Helvetica Neue"/>
                <a:cs typeface="Helvetica Neue"/>
              </a:rPr>
              <a:t>SEGUIMIENTO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04412-4866-41E0-9322-4C3E571A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051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EFE5F-55F2-4D14-86A1-A77DC26A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2099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1A809-DA34-4B4D-8020-804F39EE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099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B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92A8A-31D3-46FA-AD46-812D9BF7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147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52509-5834-444D-A2EE-21863857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619625"/>
            <a:ext cx="1962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A673D4-1B1B-49D3-AFD5-511D034B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7677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SportCoreOS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C199A-D413-4966-BA34-66636D4E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A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AC8"/>
                </a:solidFill>
                <a:latin typeface="Helvetica Neue"/>
                <a:ea typeface="Helvetica Neue"/>
                <a:cs typeface="Helvetica Neue"/>
              </a:rPr>
              <a:t>Módulos e integraciones sujetos a disponibilidad y configuración.</a:t>
            </a:r>
          </a:p>
        </p:txBody>
      </p:sp>
    </p:spTree>
    <p:extLst>
      <p:ext uri="{BB962C8B-B14F-4D97-AF65-F5344CB8AC3E}">
        <p14:creationId xmlns:p14="http://schemas.microsoft.com/office/powerpoint/2010/main" val="1790673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137846-AD36-426D-BFCD-33366C38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LA OPERACIÓN HOY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9A4D3-C29F-48B6-9A37-B8C0FE0A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Cuando cada proceso vive en un lugar distinto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5C002-34C3-4587-901E-2F4DE15A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BD3AC-9091-4AA1-9C7C-104CF4B6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BB7BE-9BD3-430B-BF70-A329E5A3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39974-91FB-4B21-AFCE-1CC6F312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En muchos clubes, la jornada se coordina entre herramientas que no comparten el mismo contexto.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6CAA5-8AD1-46D2-9F05-3C2D3E90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EBC40-C655-4E21-ABB3-4DE708D8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81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Inscripciones y plantel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ACC8E-8E5A-4B5A-B56A-EBC483E8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Formularios, hojas de cálculo y datos que se vuelven a pedir.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C8D44-9987-4A24-A0C9-55CB77FB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05125"/>
            <a:ext cx="9496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6EE31-A66F-408D-8A62-4E5FFD85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6F7A2-D35B-4936-82AD-DFA76EF1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276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Partidos y convocatorias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0606B-71B3-418F-BC15-67F204B3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76600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Fixture en un archivo; nómina y confirmaciones en mensajes.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BF6A7-B6F9-492B-8419-C778B2AF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00475"/>
            <a:ext cx="9496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8AA35-928E-4104-99E7-04655F0D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980FB-EE8E-4A25-B6F5-8750F495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171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Cobros y comprobantes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90BFD-B4A3-40D3-8E8C-368CBF0C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71950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Transferencias, recibos y cartera revisados por separado.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9908E1-2B9C-4CF4-9657-13017E56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695825"/>
            <a:ext cx="9496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E40CA3-046D-41F7-8EF8-F5A1CBC0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C7965-2F24-467E-99FF-0FB95F64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067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Seguimiento deportivo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3341C-DCA2-4DD0-8811-896DE2E7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67300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Notas y mediciones difíciles de comparar entre sesiones.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3A3068-F332-44B3-B022-5D5946C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591175"/>
            <a:ext cx="9496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2C93D-E2BB-4F54-9353-8203153B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ECF11-7029-474F-95FE-856CCFA8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Es un punto de partida para conversar con cada club, no una descripción universal.</a:t>
            </a:r>
          </a:p>
        </p:txBody>
      </p:sp>
    </p:spTree>
    <p:extLst>
      <p:ext uri="{BB962C8B-B14F-4D97-AF65-F5344CB8AC3E}">
        <p14:creationId xmlns:p14="http://schemas.microsoft.com/office/powerpoint/2010/main" val="376928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47A181-1B69-4F2B-BA4E-CA58F390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UN EJEMPLO CONCRETO · DÍA DE PARTIDO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CD5F4-C5CA-4896-8B81-018E691D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De perseguir información a revisar un flujo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ED93A-F647-4C99-926C-513A506E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57A6B-D9A6-4E98-A5EF-DF2EC8F0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2806B-28BE-4F45-9902-9CFA0674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8C0A5-94E0-4CA6-8D4F-733B6589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000625" cy="39814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FDED0-E53B-4951-8087-C9D30408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5181600" cy="39814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2E723-F7A7-45AD-A3BA-90F5B13B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762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8D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C7375-8A28-4873-A278-4843B2F1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14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14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14D12"/>
                </a:solidFill>
                <a:latin typeface="Helvetica Neue"/>
                <a:ea typeface="Helvetica Neue"/>
                <a:cs typeface="Helvetica Neue"/>
              </a:rPr>
              <a:t>HOY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A6CDD-3AC3-404C-BD0E-47E95014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9547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3B3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FF280-9254-4435-9FC0-6008E966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145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E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EE7B7"/>
                </a:solidFill>
                <a:latin typeface="Helvetica Neue"/>
                <a:ea typeface="Helvetica Neue"/>
                <a:cs typeface="Helvetica Neue"/>
              </a:rPr>
              <a:t>CON SPORTCOREOS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EC19F-F573-4D47-97A3-F5204A15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20A15-061A-4D75-B91B-6867293B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19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Buscar la lista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D9EE1-B43B-417C-9093-E4AFC179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Datos del plantel en varios archivos.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A911F-2125-40E8-A06A-A8922140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80F338-F55A-485A-900E-193997FE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19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Abrir el equipo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5E3C7-8F86-4C72-A80D-7DDC349A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90825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Jugadores y categorías disponibles en el módulo.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8BD22-4C50-40B8-BC2A-00579A41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DF156-8BFB-4F39-A7E7-4AD1BE83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Armar la nómina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5E8118-F5AB-4BF4-99FD-2BF411B6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43325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 convocatoria se recompone para cada partido.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ECB5D3-B62C-4135-B5D1-A0413547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CA0FAF-DCD6-4AF9-B6D2-FF0C4D99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71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Revisar el partido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C6D4E-CD6D-4F05-95DB-85A9832F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43325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Fixture y convocatoria dentro del flujo deportivo.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08BD5E-78E3-4EFA-8D5D-979D7252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26066-A503-484F-86DD-267E47E6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24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Confirmar por chat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89B2A9-A4D7-415F-8A0E-3957456D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95825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Las respuestas quedan en distintos hilos.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CDFDE3-380C-45AF-9D86-350A49AB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24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FE2A32-EF97-4A37-A21F-DE298199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24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Dar seguimiento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A71736-1E3D-40FC-A713-C3F8158E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95825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Consultar la información reunida para esa actividad.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F13E74-F53E-4E7B-B8AE-4422ADA2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10175"/>
            <a:ext cx="4448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Menos pasos dispersos por validar durante un piloto.</a:t>
            </a:r>
          </a:p>
        </p:txBody>
      </p:sp>
    </p:spTree>
    <p:extLst>
      <p:ext uri="{BB962C8B-B14F-4D97-AF65-F5344CB8AC3E}">
        <p14:creationId xmlns:p14="http://schemas.microsoft.com/office/powerpoint/2010/main" val="1659329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DE4071-7F15-4238-AF93-A25BABDA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GESTIÓN DEPORTIVA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35AB6-EF71-4DAA-8039-CC1D28D4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Del calendario a la convocatoria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899A5-A657-4976-8D06-CEAE3071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C0E1A-9335-4D17-92D7-A3C85F7C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6121A-5C1E-4B7E-83C7-F7036B09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3B927-B728-4767-9113-DCEDA116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419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Parte de la actividad del equipo se puede consultar desde módulos conectados a la operación deportiva.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6AA1B-A765-4DB3-89FB-C95D2CD4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C13EC-B4B8-493B-B2A1-DF456BD8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Partidos y fixture por categoría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514AC-0691-47F7-BBC0-27EB90AE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B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A51BC-29B8-48AF-98F0-8B9410C9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Nómina titular y suplentes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6546F-4222-4056-95D1-D6CA1B3F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3F6F1-0720-49AE-9387-BFE4D776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Estado de convocatoria visible para revisión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6CE9B-BBB5-412E-851E-CF02AEF5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209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Pantallas de muestra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6DA2B-65C6-4B09-B9AF-9D3CEC8D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Los equipos, nombres y marcadores son datos ficticios.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B2195-7893-461D-B1B7-348C8B9D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495425"/>
            <a:ext cx="2714625" cy="48101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717A5-28E4-41B4-A326-433C22B7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95425"/>
            <a:ext cx="2714625" cy="48101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33c6474804c72"/>
          <a:stretch xmlns:a="http://schemas.openxmlformats.org/drawingml/2006/main"/>
        </p:blipFill>
        <p:spPr>
          <a:xfrm xmlns:a="http://schemas.openxmlformats.org/drawingml/2006/main">
            <a:off x="5343525" y="1622954"/>
            <a:ext cx="2562225" cy="4555067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fe108e4da4b19"/>
          <a:stretch xmlns:a="http://schemas.openxmlformats.org/drawingml/2006/main"/>
        </p:blipFill>
        <p:spPr>
          <a:xfrm xmlns:a="http://schemas.openxmlformats.org/drawingml/2006/main">
            <a:off x="8258175" y="1622954"/>
            <a:ext cx="2562225" cy="4555067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B55DB-4CF7-48AB-8519-3E9898EE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019800"/>
            <a:ext cx="145732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422968-8E59-48E3-A9DF-1F8AE8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038850"/>
            <a:ext cx="1266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PARTIDOS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0D490-1D1C-45FB-96F3-ED4B4ED4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6019800"/>
            <a:ext cx="160972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0A9207-FDB6-4C41-A7E9-6AF2F6E6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38850"/>
            <a:ext cx="1419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CONVOCATORIA</a:t>
            </a:r>
          </a:p>
        </p:txBody>
      </p:sp>
    </p:spTree>
    <p:extLst>
      <p:ext uri="{BB962C8B-B14F-4D97-AF65-F5344CB8AC3E}">
        <p14:creationId xmlns:p14="http://schemas.microsoft.com/office/powerpoint/2010/main" val="1657173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938AE1-5C91-4866-83B1-9A1E8D56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691AD-4D0A-4582-96FE-554EB25A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Consultar recaudo sin reconstruir la historia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C9B75-8B7F-4C21-8EE2-F97DC4DE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A48BA-400A-4FBF-8D59-45CA875B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EC461-57E4-4706-AFD0-6695DB30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64255-3BDE-43AE-BE85-32CC754C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De los comprobantes por separado a una vista para revisar estados de cuenta y cartera.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94676-3E07-42AF-80E0-B5265D07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 administración puede consultar conceptos, vencimientos y estados de pago según los módulos y medios habilitados.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37A73-D645-43BE-92DE-A6455ED2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D234C-2A48-4D1D-9E41-EC14A657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543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4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14D12"/>
                </a:solidFill>
                <a:latin typeface="Helvetica Neue"/>
                <a:ea typeface="Helvetica Neue"/>
                <a:cs typeface="Helvetica Neue"/>
              </a:rPr>
              <a:t>En vez 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5E8A1-A215-45A4-9A5F-7541E96A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Cruzar extractos, mensajes y listas manuales.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10970-C031-4AB7-BBF0-2EEEACBA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El club puede revisar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9C61C-92E0-41EE-9CFE-16A333FB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Pendientes, pagos e historial en la vista habilitada.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72E6C-A04A-4818-98AB-0344E601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57325"/>
            <a:ext cx="4171950" cy="4829175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1bc408635489a"/>
          <a:stretch xmlns:a="http://schemas.openxmlformats.org/drawingml/2006/main"/>
        </p:blipFill>
        <p:spPr>
          <a:xfrm xmlns:a="http://schemas.openxmlformats.org/drawingml/2006/main">
            <a:off x="6734175" y="1978819"/>
            <a:ext cx="4038600" cy="3786188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4E4EF-44B4-4EB1-8763-7449D3A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867400"/>
            <a:ext cx="3333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913686-37B1-4C19-A780-34047C29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886450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rPr>
              <a:t>CAPTURA DE DEMOSTRACIÓN · DATOS FICTICIOS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B5F59-FD38-4CE9-9DCD-42A97DB6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547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Las pasarelas y medios de pago dependen de disponibilidad y configuración.</a:t>
            </a:r>
          </a:p>
        </p:txBody>
      </p:sp>
    </p:spTree>
    <p:extLst>
      <p:ext uri="{BB962C8B-B14F-4D97-AF65-F5344CB8AC3E}">
        <p14:creationId xmlns:p14="http://schemas.microsoft.com/office/powerpoint/2010/main" val="1081836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D0A45-B24F-48C1-A6E7-993A19B4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ESPACIOS Y SERVICIOS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ECA86-3472-4F1A-98C4-2E613126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Los escenarios también se administran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2BBC2-0EED-4231-81CC-76DC216E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B2BC4-E09A-4038-995A-CD93E60C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4F04F-C3F4-417D-B91D-663314E9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DC528-01AA-41AF-BDFF-64544DC8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La gestión de canchas y horarios puede formar parte del mismo panorama operativo del club.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97987-D616-435B-BC71-CEE158D9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Disponibilidad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6680D-BEDB-417B-96FD-268E176D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867025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Consulta de escenarios y franjas de horario.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0FF6F-951B-408B-98F0-0B5C866C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5267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4B646-5B9A-43F4-804E-DEC5157A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Reservas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22C98-2392-4338-8266-C3556CB3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762375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Organización del uso de espacios deportivos.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A08CB-FD96-4C76-9044-C702DCC0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5267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89F3A-2DB9-4FDF-9E20-FFBB4177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577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Servicios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C154F-5F47-4CD8-A4EC-F24AB1F1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657725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Oferta visible según configuración del club.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D4033-A4FF-4401-B844-07469BB4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5267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837B5-A758-4EB4-ABE7-508E4CF3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Hoy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96236-B03D-416F-8B60-8A48BB7B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19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Disponibilidad coordinada entre calendarios y mensajes.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C6996-49D8-47FE-8C34-385E2F32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38275"/>
            <a:ext cx="4171950" cy="4867275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8fa204f52429a"/>
          <a:stretch xmlns:a="http://schemas.openxmlformats.org/drawingml/2006/main"/>
        </p:blipFill>
        <p:spPr>
          <a:xfrm xmlns:a="http://schemas.openxmlformats.org/drawingml/2006/main">
            <a:off x="6734175" y="1569332"/>
            <a:ext cx="4038600" cy="4300361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8050CD-9397-4DDD-BCD6-C0BCD471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76925"/>
            <a:ext cx="31623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B1E5E2-259C-427B-A8C0-023066C4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895975"/>
            <a:ext cx="2971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rPr>
              <a:t>SEDE, HORARIOS Y TARIFAS DE MUESTRA</a:t>
            </a:r>
          </a:p>
        </p:txBody>
      </p:sp>
    </p:spTree>
    <p:extLst>
      <p:ext uri="{BB962C8B-B14F-4D97-AF65-F5344CB8AC3E}">
        <p14:creationId xmlns:p14="http://schemas.microsoft.com/office/powerpoint/2010/main" val="16913580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8673A0-7890-4DBE-A000-3691E50B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DESARROLLO DEL DEPORTISTA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A57C2-4D35-4D2F-9D1F-8D2D240F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El seguimiento deportivo gana continuidad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A216F-BD3F-478E-850C-BDBE79D7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F9EB6-CBA0-48C3-ACDB-84829EB7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C00F0-7C29-4644-9A83-1B974197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4B046-403F-4432-98B3-F1D5D119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Una historia deportiva se construye con observaciones y mediciones registradas a lo largo del proceso.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B648C-EA88-4C3D-B798-331104EC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619625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B4CF7-AD0B-4355-B879-12A72398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947F5-3C6C-4C03-B1BD-00C20E9A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813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Evaluaciones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8842F-EE14-4BB3-ACF7-22D620A7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43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Biometría y pruebas físicas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0AD28-9DE0-4532-AAFA-AA1D8088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EA5B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3163D-ABE8-4BAB-A710-ED6E3630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957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Entrenamiento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AFF44-9061-45A0-A591-E0DA4EBE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576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Telemetría GPS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3A35C-3EEB-4CD8-A73C-DAA2C32A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7A76A-AFFB-4FD3-82A7-802175C0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101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Observación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76EF6-0C4E-4831-9CBD-ABD7DD96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72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Scouting e informes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55E7D-7F11-48CA-9167-16432725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91150"/>
            <a:ext cx="388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La lectura y las decisiones siguen en manos del cuerpo técnico.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71FDCE-CD7D-4570-AA2B-1AA93698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62200"/>
            <a:ext cx="50101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6186aa8124f35"/>
          <a:stretch xmlns:a="http://schemas.openxmlformats.org/drawingml/2006/main"/>
        </p:blipFill>
        <p:spPr>
          <a:xfrm xmlns:a="http://schemas.openxmlformats.org/drawingml/2006/main">
            <a:off x="6116241" y="2419350"/>
            <a:ext cx="4436269" cy="32861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37AD2E-18BA-4F91-8252-7D243514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753100"/>
            <a:ext cx="35242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31AF7-5B04-401C-8B41-94AA4E20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7721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rPr>
              <a:t>MUESTRA FICTICIA · NO ES UNA EVALUACIÓN REAL</a:t>
            </a:r>
          </a:p>
        </p:txBody>
      </p:sp>
    </p:spTree>
    <p:extLst>
      <p:ext uri="{BB962C8B-B14F-4D97-AF65-F5344CB8AC3E}">
        <p14:creationId xmlns:p14="http://schemas.microsoft.com/office/powerpoint/2010/main" val="10779191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0E922-12D2-44B9-9350-16FDB5B7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VALOR PARA EL CLUB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9F353-30F1-4A39-9364-F961D5D6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Una vista útil para cada 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6F0FE-E0E3-43C5-917E-9605BE21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91552-A603-4D89-B116-CE6A932B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A6146-5DD2-40EF-AD11-7D4D4BAA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459DF-D18B-4521-98C5-260C3ABB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 misma plataforma puede ordenar conversaciones distintas, con acceso según el perfil habilitado.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467CE-D35C-4AF3-A033-67207148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62225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9590B-3A24-40FA-8A7D-CE44D722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Dirección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EE7C0-60FA-45AF-80CD-9AF06C67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90800"/>
            <a:ext cx="758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Panorama de equipos, actividad y procesos administrativos.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464C1-607C-4C4B-95CC-8FF63A7C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09925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D60F7-016F-43B5-B042-D3410453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D7B4B-048A-46BF-8AB3-0996DF80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Cuerpo técnico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E3A36-480E-4509-A9EF-521CE866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76625"/>
            <a:ext cx="758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Contexto del plantel, partidos, convocatoria y seguimiento.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27C9B-59DB-4192-B2E4-01B7E478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95750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E6F88-1559-4ACA-A1A5-66214929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55836-3FF9-4B2D-925F-6BFA91EB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Administración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0155E-4C59-4F6C-80DC-047787F2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62450"/>
            <a:ext cx="758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Consulta de recaudo, cartera y servicios habilitados.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1C88FB-51E3-48F3-9A6C-21EC1336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81575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B578F0-D879-4FF4-8C34-A034DAA8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97D88-8EC4-4D92-AE76-4FD47406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Familias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304EE-C977-4121-A21A-DD0E6504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48275"/>
            <a:ext cx="758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Un canal digital para la información que el club decida compartir.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2476D-B763-4F33-A8EB-77541EF8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867400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764F10-23C7-4CC1-BF45-32C55496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98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El alcance se define con el club: módulos activos, permisos y datos que se compartirán.</a:t>
            </a:r>
          </a:p>
        </p:txBody>
      </p:sp>
    </p:spTree>
    <p:extLst>
      <p:ext uri="{BB962C8B-B14F-4D97-AF65-F5344CB8AC3E}">
        <p14:creationId xmlns:p14="http://schemas.microsoft.com/office/powerpoint/2010/main" val="5643735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B9B2E5-528C-4D93-BAEC-ADBB40D4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D8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7D8B2"/>
                </a:solidFill>
                <a:latin typeface="Helvetica Neue"/>
                <a:ea typeface="Helvetica Neue"/>
                <a:cs typeface="Helvetica Neue"/>
              </a:rPr>
              <a:t>SIGUIENTE PASO · PILOTO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CAF92-D6E5-4CE7-B56B-78FC04C9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Demostrar el valor en la operación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879F5-7A69-47B1-86E5-44B254F2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39E3E-8A1D-44BA-A4B4-34A7A68E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ED4E8-9F1C-4A07-A12C-27BD32E2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C4107-A29B-4FA7-918E-3CA8886B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10144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4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7E4EC"/>
                </a:solidFill>
                <a:latin typeface="Helvetica Neue"/>
                <a:ea typeface="Helvetica Neue"/>
                <a:cs typeface="Helvetica Neue"/>
              </a:rPr>
              <a:t>Antes de prometer resultados, acordemos qué medir con el club.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6C680-14D1-4A2D-A009-1783590F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3333750" cy="2409825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122236"/>
          </a:solidFill>
          <a:ln xmlns:a="http://schemas.openxmlformats.org/drawingml/2006/main" w="9525">
            <a:solidFill>
              <a:srgbClr val="2B455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CAE06-2351-4AF7-B234-15471006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479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9AF89-2B33-4295-9D81-5C1128F9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9090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Línea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3B596-56EB-4177-8B5E-C0367477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9572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Describir cómo se hacen hoy tres procesos prioritarios.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74249-D387-4A21-BEAC-FAA56809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28900"/>
            <a:ext cx="3333750" cy="2409825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122236"/>
          </a:solidFill>
          <a:ln xmlns:a="http://schemas.openxmlformats.org/drawingml/2006/main" w="9525">
            <a:solidFill>
              <a:srgbClr val="2B45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93CCC-B228-47D0-827A-08A67641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479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34E51-5799-4678-A3F5-86A9AAFD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9090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Uso guiado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F840B-D246-442A-919F-54FEDC85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9572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Configurar el flujo y acompañar a los roles participantes.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512DA-E27F-44CE-B902-80D0E599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3333750" cy="2409825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122236"/>
          </a:solidFill>
          <a:ln xmlns:a="http://schemas.openxmlformats.org/drawingml/2006/main" w="9525">
            <a:solidFill>
              <a:srgbClr val="2B45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404D3-A2FE-44D3-B2B6-AA210ADD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479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D15F7-B1A0-4DDE-9B82-53752E44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9090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Revisión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CFC5B-5088-46FD-9E62-8A6C0C60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9572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Comparar tiempos, registros completos y puntos de fricción.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9B38E-84AE-45CE-AF71-3D284BCA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57825"/>
            <a:ext cx="2019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Indicadores posibles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F5359-6B3D-41EE-AA30-1E4729CF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29250"/>
            <a:ext cx="807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Tiempo para preparar convocatorias  ·  visibilidad de cartera  ·  registros deportivos completos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7ADB53-7405-4379-83AD-27EA8017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769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A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AC8"/>
                </a:solidFill>
                <a:latin typeface="Helvetica Neue"/>
                <a:ea typeface="Helvetica Neue"/>
                <a:cs typeface="Helvetica Neue"/>
              </a:rPr>
              <a:t>Las metas se acuerdan con el club; el resultado dependerá del uso y la configuración.</a:t>
            </a:r>
          </a:p>
        </p:txBody>
      </p:sp>
    </p:spTree>
    <p:extLst>
      <p:ext uri="{BB962C8B-B14F-4D97-AF65-F5344CB8AC3E}">
        <p14:creationId xmlns:p14="http://schemas.microsoft.com/office/powerpoint/2010/main" val="16289039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2026-09-28T05:01:44.9630000Z</dcterms:created>
  <dcterms:modified xsi:type="dcterms:W3CDTF">2026-09-28T05:01:44.9630000Z</dcterms:modified>
</coreProperties>
</file>