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b0898ea064464a" /><Relationship Type="http://schemas.openxmlformats.org/officeDocument/2006/relationships/extended-properties" Target="/docProps/app.xml" Id="Rd680fa7d6959417d" /><Relationship Type="http://schemas.openxmlformats.org/officeDocument/2006/relationships/officeDocument" Target="/ppt/presentation.xml" Id="R763bd609e35e4d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25b28736a94bbd"/>
  </p:sldMasterIdLst>
  <p:notesMasterIdLst>
    <p:notesMasterId xmlns:r="http://schemas.openxmlformats.org/officeDocument/2006/relationships" r:id="Rd047574963be48f1"/>
  </p:notesMasterIdLst>
  <p:sldIdLst>
    <p:sldId xmlns:r="http://schemas.openxmlformats.org/officeDocument/2006/relationships" id="256" r:id="Rb2b30f02d19b4475"/>
    <p:sldId xmlns:r="http://schemas.openxmlformats.org/officeDocument/2006/relationships" id="257" r:id="Rd8c91aa11a2d41c0"/>
    <p:sldId xmlns:r="http://schemas.openxmlformats.org/officeDocument/2006/relationships" id="258" r:id="R13d2697b2e3c4074"/>
    <p:sldId xmlns:r="http://schemas.openxmlformats.org/officeDocument/2006/relationships" id="259" r:id="R865052c34659402b"/>
    <p:sldId xmlns:r="http://schemas.openxmlformats.org/officeDocument/2006/relationships" id="260" r:id="Rcb51e36169784ec4"/>
    <p:sldId xmlns:r="http://schemas.openxmlformats.org/officeDocument/2006/relationships" id="261" r:id="R452752d9658d4f5e"/>
    <p:sldId xmlns:r="http://schemas.openxmlformats.org/officeDocument/2006/relationships" id="262" r:id="Rdad8f79b04624e71"/>
    <p:sldId xmlns:r="http://schemas.openxmlformats.org/officeDocument/2006/relationships" id="263" r:id="Rc7f5d049fbbe4d61"/>
    <p:sldId xmlns:r="http://schemas.openxmlformats.org/officeDocument/2006/relationships" id="264" r:id="R7e12443047f14a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fa87e1ed374e87" /><Relationship Type="http://schemas.openxmlformats.org/officeDocument/2006/relationships/slideMaster" Target="/ppt/slideMasters/slideMaster1.xml" Id="Rcf25b28736a94bbd" /><Relationship Type="http://schemas.openxmlformats.org/officeDocument/2006/relationships/notesMaster" Target="/ppt/notesMasters/notesMaster1.xml" Id="Rd047574963be48f1" /><Relationship Type="http://schemas.openxmlformats.org/officeDocument/2006/relationships/presProps" Target="/ppt/presProps.xml" Id="R218e33fd634b4a00" /><Relationship Type="http://schemas.openxmlformats.org/officeDocument/2006/relationships/tableStyles" Target="/ppt/tableStyles.xml" Id="Ra138883dc72a46b4" /><Relationship Type="http://schemas.openxmlformats.org/officeDocument/2006/relationships/slide" Target="/ppt/slides/slide1.xml" Id="Rb2b30f02d19b4475" /><Relationship Type="http://schemas.openxmlformats.org/officeDocument/2006/relationships/slide" Target="/ppt/slides/slide2.xml" Id="Rd8c91aa11a2d41c0" /><Relationship Type="http://schemas.openxmlformats.org/officeDocument/2006/relationships/slide" Target="/ppt/slides/slide3.xml" Id="R13d2697b2e3c4074" /><Relationship Type="http://schemas.openxmlformats.org/officeDocument/2006/relationships/slide" Target="/ppt/slides/slide4.xml" Id="R865052c34659402b" /><Relationship Type="http://schemas.openxmlformats.org/officeDocument/2006/relationships/slide" Target="/ppt/slides/slide5.xml" Id="Rcb51e36169784ec4" /><Relationship Type="http://schemas.openxmlformats.org/officeDocument/2006/relationships/slide" Target="/ppt/slides/slide6.xml" Id="R452752d9658d4f5e" /><Relationship Type="http://schemas.openxmlformats.org/officeDocument/2006/relationships/slide" Target="/ppt/slides/slide7.xml" Id="Rdad8f79b04624e71" /><Relationship Type="http://schemas.openxmlformats.org/officeDocument/2006/relationships/slide" Target="/ppt/slides/slide8.xml" Id="Rc7f5d049fbbe4d61" /><Relationship Type="http://schemas.openxmlformats.org/officeDocument/2006/relationships/slide" Target="/ppt/slides/slide9.xml" Id="R7e12443047f14a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c6c92be23043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f7ce0895c848bc" /><Relationship Type="http://schemas.openxmlformats.org/officeDocument/2006/relationships/notesMaster" Target="/ppt/notesMasters/notesMaster1.xml" Id="Rc294b4e6f00b45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0bd2e5ab343c5" /><Relationship Type="http://schemas.openxmlformats.org/officeDocument/2006/relationships/notesMaster" Target="/ppt/notesMasters/notesMaster1.xml" Id="R8b8b2cf2122d43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5e2dd793964544" /><Relationship Type="http://schemas.openxmlformats.org/officeDocument/2006/relationships/notesMaster" Target="/ppt/notesMasters/notesMaster1.xml" Id="R7043d275461d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b926a638c74c3e" /><Relationship Type="http://schemas.openxmlformats.org/officeDocument/2006/relationships/notesMaster" Target="/ppt/notesMasters/notesMaster1.xml" Id="Rf73753cad22544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f614e5ea2641d8" /><Relationship Type="http://schemas.openxmlformats.org/officeDocument/2006/relationships/notesMaster" Target="/ppt/notesMasters/notesMaster1.xml" Id="Rd8e6bc49f5cd4d9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15df84e4fd4679" /><Relationship Type="http://schemas.openxmlformats.org/officeDocument/2006/relationships/notesMaster" Target="/ppt/notesMasters/notesMaster1.xml" Id="R26546786cafe4a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df7daadd9c4e68" /><Relationship Type="http://schemas.openxmlformats.org/officeDocument/2006/relationships/notesMaster" Target="/ppt/notesMasters/notesMaster1.xml" Id="R1b69b9e7642d40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592ca2719c4d68" /><Relationship Type="http://schemas.openxmlformats.org/officeDocument/2006/relationships/notesMaster" Target="/ppt/notesMasters/notesMaster1.xml" Id="R86721dfb4f4b45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dc8ea786594458" /><Relationship Type="http://schemas.openxmlformats.org/officeDocument/2006/relationships/notesMaster" Target="/ppt/notesMasters/notesMaster1.xml" Id="R3baf013c002d43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 ventas enfocada en gestión deportiva y administrativa. El módulo de ranking queda fuera del alcance de esta presentación. La disponibilidad depende de módulos activos y configuración.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como escenario frecuente para validar con el cliente. Preguntar cuáles de estos pasos hoy dependen de hojas, chats o registros separados. No afirmar que todos los clubes operan igual.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Flujo comparativo conceptual basado en las rutas disponibles de jugadores, categorías, partidos y convocatorias. Evitar afirmar automatización o integración automática con chat; el beneficio esperado debe medirse en el piloto.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Capturas de demostración de los módulos de partidos y convocatorias. No corresponden a un club cliente ni representan marcadores o datos reales. Rutas de producto verificadas en SportCoreOS-web/src/app/app.routes.ts.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cartera es ilustrativa e incluye nombres, montos y fechas ficticias. No usar como tarifa, cotización o caso de cliente. La interfaz contiene opción PSE/Wompi, pero disponibilidad y operación de pasarelas deben validarse con el equipo antes de comprometerlas comercialmente.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canchas es demostrativa. El nombre de la sede, fechas, tarifas y disponibilidad visibles son ficticios. No presentar el valor mostrado como precio real. Las capacidades comerciales dependen de módulos activos.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boletín incluye perfil, texto de análisis y métricas generadas para una muestra; ningún valor ni interpretación se presenta como evaluación real. El módulo debe validarse con información autorizada, metodología del club y revisión del equipo técnico. No es diagnóstico médico.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portal para padres está identificado como módulo. Presentar como canal para información que el club decida habilitar; no asegurar comunicaciones automáticas. Definir roles, permisos y tratamiento de datos de menores antes de la puesta en marcha.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comercial: proponer seleccionar de 2 a 3 procesos para un piloto y levantar la línea base antes de configurar. Los indicadores son propuestas, no resultados garantizados. Definir duración, responsables y objetivos con el cliente.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bcc84b0214a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59159db0c74cca" /><Relationship Type="http://schemas.openxmlformats.org/officeDocument/2006/relationships/slideLayout" Target="/ppt/slideLayouts/slideLayout1.xml" Id="Rb433c27431f04b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3c27431f04b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3c0f1c650431f" /><Relationship Type="http://schemas.openxmlformats.org/officeDocument/2006/relationships/image" Target="/ppt/media/image.jpeg" Id="R6345f8d7c8c64df8" /><Relationship Type="http://schemas.openxmlformats.org/officeDocument/2006/relationships/notesSlide" Target="/ppt/notesSlides/notesSlide1.xml" Id="Rbc3ac2caebbd47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f14d441914e7c" /><Relationship Type="http://schemas.openxmlformats.org/officeDocument/2006/relationships/notesSlide" Target="/ppt/notesSlides/notesSlide2.xml" Id="R4313b9780d8441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b294bc05d4c3a" /><Relationship Type="http://schemas.openxmlformats.org/officeDocument/2006/relationships/notesSlide" Target="/ppt/notesSlides/notesSlide3.xml" Id="Rbefc55c3ad4847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8ad07cb3848f4" /><Relationship Type="http://schemas.openxmlformats.org/officeDocument/2006/relationships/image" Target="/ppt/media/image.png" Id="Rd8adcb886acb4381" /><Relationship Type="http://schemas.openxmlformats.org/officeDocument/2006/relationships/image" Target="/ppt/media/image2.png" Id="R06dc44af77164e7a" /><Relationship Type="http://schemas.openxmlformats.org/officeDocument/2006/relationships/notesSlide" Target="/ppt/notesSlides/notesSlide4.xml" Id="R43c0cf5eb60d44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c5d03f8104d35" /><Relationship Type="http://schemas.openxmlformats.org/officeDocument/2006/relationships/image" Target="/ppt/media/image3.png" Id="R69dcca7b26984167" /><Relationship Type="http://schemas.openxmlformats.org/officeDocument/2006/relationships/notesSlide" Target="/ppt/notesSlides/notesSlide5.xml" Id="Rcdc656cd63d543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cc7b969a24771" /><Relationship Type="http://schemas.openxmlformats.org/officeDocument/2006/relationships/image" Target="/ppt/media/image4.png" Id="Re67f456713a04722" /><Relationship Type="http://schemas.openxmlformats.org/officeDocument/2006/relationships/notesSlide" Target="/ppt/notesSlides/notesSlide6.xml" Id="Rb38c500f921746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1246e3bf0482e" /><Relationship Type="http://schemas.openxmlformats.org/officeDocument/2006/relationships/image" Target="/ppt/media/image5.png" Id="R62da4b4ee5284586" /><Relationship Type="http://schemas.openxmlformats.org/officeDocument/2006/relationships/notesSlide" Target="/ppt/notesSlides/notesSlide7.xml" Id="R18cb3afac2a04a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ad30aea41414b" /><Relationship Type="http://schemas.openxmlformats.org/officeDocument/2006/relationships/notesSlide" Target="/ppt/notesSlides/notesSlide8.xml" Id="Refd3dda659a840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fc1dd874241a1" /><Relationship Type="http://schemas.openxmlformats.org/officeDocument/2006/relationships/notesSlide" Target="/ppt/notesSlides/notesSlide9.xml" Id="Ra85d4adedbf846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F2AFC1-B75E-4355-B515-4C45862C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5f8d7c8c64df8"/>
          <a:stretch xmlns:a="http://schemas.openxmlformats.org/drawingml/2006/main"/>
        </p:blipFill>
        <p:spPr>
          <a:xfrm xmlns:a="http://schemas.openxmlformats.org/drawingml/2006/main">
            <a:off x="1200150" y="495300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F079B-AD81-407E-90BF-10606800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5476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 operación del club,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mejor conectada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6B29D-D4D2-4D8F-B0FD-B3480C5E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De la coordinación dispersa a una gestión deportiva y administrativa más clara.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12B757-4B9E-4579-AA67-174455EF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362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3A9CE-0B67-4072-90C7-1A24C404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rPr>
              <a:t>PRESENTACIÓN PARA CLUBES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C0E01-6E3A-481E-9833-5709754F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09575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101E2D"/>
          </a:solidFill>
          <a:ln xmlns:a="http://schemas.openxmlformats.org/drawingml/2006/main" w="9525">
            <a:solidFill>
              <a:srgbClr val="25425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8F8FB0-63B9-4D17-9D4C-1D3BC1E3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62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Una referencia para el día a día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B3C2A-682D-4455-8806-7102AAE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28875"/>
            <a:ext cx="1314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E6319-2B0F-4057-B376-50EFB201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rPr>
              <a:t>PLANTEL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3350BD-51E1-4944-97B2-A7D5247A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28875"/>
            <a:ext cx="1466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91715-A617-4946-A2AB-547378E7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0507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rPr>
              <a:t>COMPETENCIA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00940-3311-44AC-A9D8-C8B35ED9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29025"/>
            <a:ext cx="13144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299BF-CDE9-4D33-A302-F34BD194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0522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1E6C2"/>
                </a:solidFill>
                <a:latin typeface="Helvetica Neue"/>
                <a:ea typeface="Helvetica Neue"/>
                <a:cs typeface="Helvetica Neue"/>
              </a:rPr>
              <a:t>FINANZAS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2E8C0-E89C-4BCF-84E0-0C00B2C9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29025"/>
            <a:ext cx="14668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2A3B"/>
          </a:solidFill>
          <a:ln xmlns:a="http://schemas.openxmlformats.org/drawingml/2006/main" w="9525">
            <a:solidFill>
              <a:srgbClr val="3651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DB059-0096-4D7F-ADB7-2B256D6F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705225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DD9E5"/>
                </a:solidFill>
                <a:latin typeface="Helvetica Neue"/>
                <a:ea typeface="Helvetica Neue"/>
                <a:cs typeface="Helvetica Neue"/>
              </a:rPr>
              <a:t>SEGUIMIENTO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305E3-4E33-476D-91A7-9A7AE65B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05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92804-502F-4A62-8F60-86D8181F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2099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C3946-7FA2-43E0-B177-E4946834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099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B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A233F-56B0-4324-8A97-405A87CF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14775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C965B-64ED-41CA-AAAD-4676677D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19625"/>
            <a:ext cx="1962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073B4-DA24-4927-BF59-FD87E925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7677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SportCoreOS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0183D-B3B6-499D-9CCE-66E54BFF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742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rPr>
              <a:t>Módulos e integraciones sujetos a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843928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A9C5AD-C783-4F46-A390-CAA2C700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LA OPERACIÓN HOY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1FAA1-70DB-4010-B564-E3DD8B17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Cuando cada proceso vive en un lugar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EDE2A-3359-4453-A802-132D2BA3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6CC98-5F32-4B0F-9270-4AD16005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FDBE6-9B94-44A0-B77E-269F5559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6D0DA-4502-4C4B-ABC9-21F27B5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En muchos clubes, la jornada se coordina entre herramientas que no comparten el mismo contexto.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A7A73-0FAF-453E-94AB-839CB958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F44E0-72AC-47BE-B549-38C3D86B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81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Inscripciones y plantel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BDF2E-9A7F-4A42-945E-9B074B5F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Formularios, hojas de cálculo y datos que se vuelven a pedir.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F1B4E-BCBD-47C8-AE92-F89854F7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90512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7AD05-A831-4609-8025-693B459F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5357F-3606-459F-9D73-9A07FAD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276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 y convocatorias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56BD6-FF80-42FF-96FB-AC811B82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766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Fixture en un archivo; nómina y confirmaciones en mensajes.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02B89-DDA3-47A7-80B5-4164064E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80047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4564C8-E060-4311-BF84-A3E74922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C14BA-5A73-4F81-9D3E-93F824A1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1719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Cobros y comprobantes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74718-2039-48C9-B185-562ADD5B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7195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Transferencias, recibos y cartera revisados por separado.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5DF612-E4CE-4001-8C8C-DF0FD775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69582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9C0ED-2F0A-4116-BCE8-9C783B6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5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1C0435-05E3-49BD-810C-F7C2B474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0673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Seguimiento deportivo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E3727D-AD27-4FEE-898D-266E2F3E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067300"/>
            <a:ext cx="604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Notas y mediciones difíciles de comparar entre sesiones.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3B43B-7810-4FA5-BA73-0F004505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591175"/>
            <a:ext cx="9496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A3961-9BE5-4A6B-A869-5F59BCBC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D9A5D-69CE-47AA-9BAD-9C3D8701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Es un punto de partida para conversar con cada club, no una descripción universal.</a:t>
            </a:r>
          </a:p>
        </p:txBody>
      </p:sp>
    </p:spTree>
    <p:extLst>
      <p:ext uri="{BB962C8B-B14F-4D97-AF65-F5344CB8AC3E}">
        <p14:creationId xmlns:p14="http://schemas.microsoft.com/office/powerpoint/2010/main" val="5927275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597C4-54DB-449A-B3A9-448228C1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UN EJEMPLO CONCRETO · DÍA DE PARTIDO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46D0F-FFC7-44A3-B570-1E07209A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 perseguir información a revisar un flujo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816B5-454B-4E86-8D3E-5D8120D7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2FC00-2ACE-4FFF-94A3-37CAD34E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B3E90-72E4-4AA5-BFFF-DB407F9B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57E83-165C-4781-B2FB-F6DBE1DF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5000625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D8B481-2207-4765-9793-8A593AC1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5181600" cy="3981450"/>
          </a:xfrm>
          <a:prstGeom xmlns:a="http://schemas.openxmlformats.org/drawingml/2006/main" prst="roundRect">
            <a:avLst>
              <a:gd name="adj" fmla="val 191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CB8DA-098B-4FEF-BA37-2CB2D83D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76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DE8D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C27A1-C1EA-4D94-8C67-90766442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14525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rPr>
              <a:t>HOY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5E8BB-CDEE-4FA2-A0BC-135F82C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95475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23B3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80D10-992C-46D1-9766-F14B877E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145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6EE7B7"/>
                </a:solidFill>
                <a:latin typeface="Helvetica Neue"/>
                <a:ea typeface="Helvetica Neue"/>
                <a:cs typeface="Helvetica Neue"/>
              </a:rPr>
              <a:t>CON SPORTCOREOS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199D3-20F6-499A-ADDD-000543C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9D4D7-4610-44FB-87F4-0B149848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19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Buscar la lista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49A0B-EBB1-4BFD-BD82-3FAEE270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Datos del plantel en varios archivos.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B95D6-93A3-4B2C-BB0C-A549B6DF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06BBD-5531-4297-BD34-E56A0CF9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19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Abrir el equipo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A9B15-1233-4C49-9A21-9894D5C3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908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Jugadores y categorías disponibles en el módulo.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77517-38B6-44AD-8E4E-802A0644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4FADC-0408-487E-87FC-BAA20478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Armar la nómina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BF87C-F6FD-4F62-9141-9BA27D5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433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convocatoria se recompone para cada partido.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ABED56-A173-492D-9729-5B995C70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718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624A9-9534-43D1-BA6D-431ED947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Revisar el partido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E26CE3-E584-48FB-8328-1D689FA4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433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Fixture y convocatoria dentro del flujo deportivo.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92D9AB-6A06-4DC2-851D-E5457F90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2A93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678490-5F71-4EDF-8210-1C60730B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Confirmar por chat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238F72-E3AA-44E9-B903-D795CB48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95825"/>
            <a:ext cx="3829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Las respuestas quedan en distintos hilos.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BA20DA-E1B0-4354-BEF4-A672C536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2B6E4-79F6-4625-9E08-1A7821D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Dar seguimiento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992D2C-982F-46FE-8FC9-77BF3360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95825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Consultar la información reunida para esa actividad.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E95889-C3FF-472F-863E-0D01419B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10175"/>
            <a:ext cx="4448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Menos pasos dispersos por validar durante un piloto.</a:t>
            </a:r>
          </a:p>
        </p:txBody>
      </p:sp>
    </p:spTree>
    <p:extLst>
      <p:ext uri="{BB962C8B-B14F-4D97-AF65-F5344CB8AC3E}">
        <p14:creationId xmlns:p14="http://schemas.microsoft.com/office/powerpoint/2010/main" val="1198931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D2FE4-F38B-4F45-BB69-B4D657D2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GESTIÓN DEPORTIVA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8C079-4594-44F2-B4D1-1B7D9BA6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Del calendario a la convocatoria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E1FDF8-7D65-4F8F-B8E0-A58A7CE2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1DCA1-A2D3-49FB-A30D-21429C3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04230-3A62-4B0A-A028-D528D8B7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3B362C-0041-4498-B3C6-03FAD589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4191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Parte de la actividad del equipo se puede consultar desde módulos conectados a la operación deportiva.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3101B-2A98-40E3-BC7D-17937DAE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2EA893-F230-402D-BA6B-708AA091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 y fixture por categoría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46135-9048-4154-8F77-1DCB507E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B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746D9-8E88-45D6-B1C8-6E97DBAD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Nómina titular y suplentes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3B997-65EA-4E21-91D7-9CC6FE7D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70A91-E8C0-4603-83A9-784C7DB5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Estado de convocatoria visible para revisión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E180B-EBF2-48E4-8491-462134D3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2095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Pantallas de muestra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A86B11-C589-4698-84E3-AB5032DB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Los equipos, nombres y marcadores son datos ficticios.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0AB35-598F-4FAF-AA52-00D7F76C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495425"/>
            <a:ext cx="2714625" cy="48101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6EC2F5-87F5-4356-9646-CBA6BFEC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95425"/>
            <a:ext cx="2714625" cy="48101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dcb886acb4381"/>
          <a:stretch xmlns:a="http://schemas.openxmlformats.org/drawingml/2006/main"/>
        </p:blipFill>
        <p:spPr>
          <a:xfrm xmlns:a="http://schemas.openxmlformats.org/drawingml/2006/main">
            <a:off x="5343525" y="1622954"/>
            <a:ext cx="2562225" cy="4555067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c44af77164e7a"/>
          <a:stretch xmlns:a="http://schemas.openxmlformats.org/drawingml/2006/main"/>
        </p:blipFill>
        <p:spPr>
          <a:xfrm xmlns:a="http://schemas.openxmlformats.org/drawingml/2006/main">
            <a:off x="8258175" y="1622954"/>
            <a:ext cx="2562225" cy="4555067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8BAC44-E85D-4A7B-A326-9313FA04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6019800"/>
            <a:ext cx="14573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32550A-A8C9-4EAA-8302-71C89E32F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38850"/>
            <a:ext cx="1266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PARTIDOS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F964CF-C5B5-40A8-A678-755EE7AB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6019800"/>
            <a:ext cx="1609725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AA4ACE-FE87-4F7E-AB52-37B1009E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038850"/>
            <a:ext cx="1419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CONVOCATORIA</a:t>
            </a:r>
          </a:p>
        </p:txBody>
      </p:sp>
    </p:spTree>
    <p:extLst>
      <p:ext uri="{BB962C8B-B14F-4D97-AF65-F5344CB8AC3E}">
        <p14:creationId xmlns:p14="http://schemas.microsoft.com/office/powerpoint/2010/main" val="1075875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AB3C6-E88F-46C7-BFD6-9A69CFC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67DD8-0F89-4057-88F2-F6EAD266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Consultar recaudo sin reconstruir la historia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CD91F-7D67-4E90-AA16-DCA903C5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16580-841A-4383-983D-F904663A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407CA-A9C8-4554-9010-6B18584B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00EF9-54BD-40FB-8B7E-2CE761F7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De los comprobantes por separado a una vista para revisar estados de cuenta y cartera.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1C6B7-F3E9-40F9-88AE-1279AEBB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administración puede consultar conceptos, vencimientos y estados de pago según los módulos y medios habilitados.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36DAD-93CA-40D4-9FD6-75C79E33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69BBB5-4E68-4A70-A7E9-640461B7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5430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A14D12"/>
                </a:solidFill>
                <a:latin typeface="Helvetica Neue"/>
                <a:ea typeface="Helvetica Neue"/>
                <a:cs typeface="Helvetica Neue"/>
              </a:rPr>
              <a:t>En vez 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5B80A-B618-4FC8-9386-421FF117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Cruzar extractos, mensajes y listas manuales.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B50B2-956E-496A-B4C6-49E7B853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247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El club puede revisar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3FF8A-5FCC-4ACA-B725-4A374634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8637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Pendientes, pagos e historial en la vista habilitada.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D66FF-4C03-4C74-99A6-5C0F5532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57325"/>
            <a:ext cx="4171950" cy="4829175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cca7b26984167"/>
          <a:stretch xmlns:a="http://schemas.openxmlformats.org/drawingml/2006/main"/>
        </p:blipFill>
        <p:spPr>
          <a:xfrm xmlns:a="http://schemas.openxmlformats.org/drawingml/2006/main">
            <a:off x="7432568" y="1524000"/>
            <a:ext cx="2641814" cy="469582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1CCD2A-F49D-4C5E-B141-34D2135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867400"/>
            <a:ext cx="33337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9C6EF-7003-43EC-BE1D-5E46F0A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5886450"/>
            <a:ext cx="314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CAPTURA DE DEMOSTRACIÓN · DATOS FICTICIOS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58F096-9067-4CF7-8BE1-9EB0A97CD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5476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Las pasarelas y medios de pago dependen de disponibilidad y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4733820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EDCE1-DBE9-41DA-B675-94464F76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ESPACIOS Y SERVICIOS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12B218-4DBC-40DF-B469-8767F226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Los escenarios también se administran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6017B-C848-40C0-8702-DBA05DB5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68BBE-0637-421D-9B42-84EB05C1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3CA13-95A2-493C-88C0-D8F95AC2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04E71-816B-4E40-B8A2-2060E239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La gestión de canchas y horarios puede formar parte del mismo panorama operativo del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6CB8B-990F-47FE-8449-76FA3C55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70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Disponibilidad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3C352-0FBB-4C16-8BD6-280C6A50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8670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Consulta de escenarios y franjas de horario.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D2E22-6668-487F-AA3B-A173D139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6EFD6C-4D1E-4EC3-B1A8-5593E8E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Reservas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4139F-A3F4-4E67-B42C-B978AAD3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76237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Organización del uso de espacios deportivos.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1A634-C1F0-4D87-AED7-EC84CA95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79962-877A-4E64-B60C-0A3132BE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5772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Servicios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8E244-67E2-4A3A-AD46-3A24518E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657725"/>
            <a:ext cx="323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Oferta visible según configuración del club.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78BA65-F2D3-49E2-8DB7-20ADA4F4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52673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D48CC2-095E-4576-9808-E5D8C765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388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Hoy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286A9E-A04B-494B-8128-CDC2A3ED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619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Disponibilidad coordinada entre calendarios y mensajes.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AC3E5A-28D5-4086-AAFA-A4DC45CD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38275"/>
            <a:ext cx="4171950" cy="4867275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f456713a04722"/>
          <a:stretch xmlns:a="http://schemas.openxmlformats.org/drawingml/2006/main"/>
        </p:blipFill>
        <p:spPr>
          <a:xfrm xmlns:a="http://schemas.openxmlformats.org/drawingml/2006/main">
            <a:off x="7419380" y="1504950"/>
            <a:ext cx="2668191" cy="47434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96D07-15CB-40B9-80D7-F2CE7DB2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876925"/>
            <a:ext cx="316230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80F7E-A775-409B-B589-4EFEFDFD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95975"/>
            <a:ext cx="2971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SEDE, HORARIOS Y TARIFAS DE MUESTRA</a:t>
            </a:r>
          </a:p>
        </p:txBody>
      </p:sp>
    </p:spTree>
    <p:extLst>
      <p:ext uri="{BB962C8B-B14F-4D97-AF65-F5344CB8AC3E}">
        <p14:creationId xmlns:p14="http://schemas.microsoft.com/office/powerpoint/2010/main" val="910681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4F6C7-A34E-4FEA-AB5A-BF5C1403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DESARROLLO DEL DEPORTISTA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34E00-7C0B-43CC-A221-2C1B129E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El seguimiento deportivo gana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31BB7-43A4-420D-BED8-4BE38B6E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72E21-0791-4506-82EE-92A104F0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65B2B-A832-4A7E-AD45-2E433535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DA244-190B-4B0A-9693-E02D941A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Una historia deportiva se construye con observaciones y mediciones registradas a lo largo del proceso.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4FF6B-96A7-43A5-B2BC-F9391359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619625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402CB-2FD3-4DB0-90DC-660A9F27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2F3DB-01C1-4ECA-84CD-DD64438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813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Evaluaciones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AF9DB-6163-4152-96C6-91ADF2A1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432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Biometría y pruebas físicas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F500B-99BA-4DB0-9AD6-F420A32C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A5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EA5B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AE453-5E46-419B-BBB5-B0A94621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957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Entrenamiento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C1B36-422E-40B5-958E-45674809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576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Telemetría GPS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68797-9563-423B-9706-A673B55D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A9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C1325-5A9F-48E0-A8C7-A4BC03B5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10100"/>
            <a:ext cx="3000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Observación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4A47D-2D92-4882-AB96-84A2B142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Scouting e informes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C434F-A30E-4170-94D1-2D9C1236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3886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La lectura y las decisiones siguen en manos del cuerpo técnico.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8EAE4-2B54-40B8-B532-44EF4ECF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50101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1E8"/>
            </a:solidFill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a4b4ee5284586"/>
          <a:stretch xmlns:a="http://schemas.openxmlformats.org/drawingml/2006/main"/>
        </p:blipFill>
        <p:spPr>
          <a:xfrm xmlns:a="http://schemas.openxmlformats.org/drawingml/2006/main">
            <a:off x="7332464" y="2419350"/>
            <a:ext cx="2003822" cy="35623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9713C-8E07-42A1-BBD8-98EABF79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753100"/>
            <a:ext cx="3524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E08F81-E358-49AB-8464-E70A836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57721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>
                <a:solidFill>
                  <a:srgbClr val="875615"/>
                </a:solidFill>
                <a:latin typeface="Helvetica Neue"/>
                <a:ea typeface="Helvetica Neue"/>
                <a:cs typeface="Helvetica Neue"/>
              </a:rPr>
              <a:t>MUESTRA FICTICIA · NO ES UNA EVALUACIÓN REAL</a:t>
            </a:r>
          </a:p>
        </p:txBody>
      </p:sp>
    </p:spTree>
    <p:extLst>
      <p:ext uri="{BB962C8B-B14F-4D97-AF65-F5344CB8AC3E}">
        <p14:creationId xmlns:p14="http://schemas.microsoft.com/office/powerpoint/2010/main" val="1607496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C8D9FF-4854-4F37-B4DC-00BE5672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VALOR PARA EL CLUB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8800B-FA8C-4162-A373-1CCDC798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Una vista útil para cada 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A5509A-ECDC-4B58-8199-E2B26A1A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59440-40DF-4589-B085-AF73D52D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410BD-6E04-43C6-BD1E-4F9F64DC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447BE-BAE4-46A3-AE58-A52B14DA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La misma plataforma puede ordenar conversaciones distintas, con acceso según el perfil habilitado.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BAFF6-FA76-4133-85A6-FA4AD247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62225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C1008-8120-4EF1-BEBF-9A44B1CB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Dirección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A22C8-C895-4772-984B-B6FB22F0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90800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Panorama de equipos, actividad y procesos administrativos.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DA30A-C158-4AD3-AD2B-3214A8A3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0992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85756A-D9AE-4717-9753-CAB643DE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4805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1E6CB4-26CB-4DFC-9565-46CBADC9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14725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Cuerpo técnico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66B6D-18D8-42DE-B3E4-6DD0C589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76625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Contexto del plantel, partidos, convocatoria y seguimiento.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B5E5FA-8C36-40EE-B184-FDE61D16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3A91B-2259-4B87-B66C-2812ABB6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67311-8D6C-4476-9195-1E29C0EF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Administración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9ECE31-AD1D-464F-92CE-F514B7AF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62450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Consulta de recaudo, cartera y servicios habilitados.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C7AD9-CC2A-4AB2-B769-59EFE3A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81575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7F3C2-F526-4C27-A806-B0440275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209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5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388388-2E7E-46D3-B05F-1450FCAA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19240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47857"/>
                </a:solidFill>
                <a:latin typeface="Helvetica Neue"/>
                <a:ea typeface="Helvetica Neue"/>
                <a:cs typeface="Helvetica Neue"/>
              </a:rPr>
              <a:t>Familias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6CB52-343C-48F9-9820-66D10516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48275"/>
            <a:ext cx="7581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72338"/>
                </a:solidFill>
                <a:latin typeface="Helvetica Neue"/>
                <a:ea typeface="Helvetica Neue"/>
                <a:cs typeface="Helvetica Neue"/>
              </a:rPr>
              <a:t>Un canal digital para la información que el club decida compartir.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9579B-5044-4C6D-97C0-0923BE08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67400"/>
            <a:ext cx="758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A2F043-7A07-4B1D-94DC-001F3591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98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4748B"/>
                </a:solidFill>
                <a:latin typeface="Helvetica Neue"/>
                <a:ea typeface="Helvetica Neue"/>
                <a:cs typeface="Helvetica Neue"/>
              </a:rPr>
              <a:t>El alcance se define con el club: módulos activos, permisos y datos que se compartirán.</a:t>
            </a:r>
          </a:p>
        </p:txBody>
      </p:sp>
    </p:spTree>
    <p:extLst>
      <p:ext uri="{BB962C8B-B14F-4D97-AF65-F5344CB8AC3E}">
        <p14:creationId xmlns:p14="http://schemas.microsoft.com/office/powerpoint/2010/main" val="57506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5EC367-AE93-49B4-B29E-4BA13E7A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7D8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7D8B2"/>
                </a:solidFill>
                <a:latin typeface="Helvetica Neue"/>
                <a:ea typeface="Helvetica Neue"/>
                <a:cs typeface="Helvetica Neue"/>
              </a:rPr>
              <a:t>SIGUIENTE PASO ·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FDEF4-FA3A-48B2-896F-3898BA7D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Demostrar el valor en la operación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0BF5D-9EA3-4A58-81DE-DB02C8A8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7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2A50E3-6FF5-49A3-BC82-0BB548B0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SportCoreOS  ·  Gestión deportiva y administrativa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C0668-00DB-4375-9647-F0BEFDA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1CD0D-DEAE-4ADA-9A89-16EFF683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101441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7E4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7E4EC"/>
                </a:solidFill>
                <a:latin typeface="Helvetica Neue"/>
                <a:ea typeface="Helvetica Neue"/>
                <a:cs typeface="Helvetica Neue"/>
              </a:rPr>
              <a:t>Antes de prometer resultados, acordemos qué medir con el club.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D60F2-37DF-447B-A4B3-597D8844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19B05-F1D3-4E46-B927-1535CB25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8B382-8DE3-43AD-A824-32B0D94F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Línea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B32F5-9D7C-4E13-85AC-D5D728CAF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Describir cómo se hacen hoy tres procesos prioritarios.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FDFC4-C9B7-4CE6-BF4F-29E1F083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174AD-379A-4C41-8483-C4DA6B68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98CFE-E666-4C56-906B-DFE676EF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Uso guiado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D73C7-435F-4418-A2E6-8758EEC4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Configurar el flujo y acompañar a los roles participantes.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F8787-BD73-418C-A499-7B7A1DFD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28900"/>
            <a:ext cx="3333750" cy="2409825"/>
          </a:xfrm>
          <a:prstGeom xmlns:a="http://schemas.openxmlformats.org/drawingml/2006/main" prst="roundRect">
            <a:avLst>
              <a:gd name="adj" fmla="val 3162"/>
            </a:avLst>
          </a:prstGeom>
          <a:solidFill xmlns:a="http://schemas.openxmlformats.org/drawingml/2006/main">
            <a:srgbClr val="122236"/>
          </a:solidFill>
          <a:ln xmlns:a="http://schemas.openxmlformats.org/drawingml/2006/main" w="9525">
            <a:solidFill>
              <a:srgbClr val="2B455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16F8C-7379-4B4D-85CA-A69B599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4797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C9E90-781A-45C9-A0D4-0786DDD7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90900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7C0C7-F66D-4072-8131-EB1E0937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95725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C2D0DE"/>
                </a:solidFill>
                <a:latin typeface="Helvetica Neue"/>
                <a:ea typeface="Helvetica Neue"/>
                <a:cs typeface="Helvetica Neue"/>
              </a:rPr>
              <a:t>Comparar tiempos, registros completos y puntos de fricción.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D77270-58F4-42A1-A222-0A56D270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201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70E0BA"/>
                </a:solidFill>
                <a:latin typeface="Helvetica Neue"/>
                <a:ea typeface="Helvetica Neue"/>
                <a:cs typeface="Helvetica Neue"/>
              </a:rPr>
              <a:t>Indicadores posibles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BA9A9-F93E-4F51-82A0-B7FF06CE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29250"/>
            <a:ext cx="80772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Tiempo para preparar convocatorias  ·  visibilidad de cartera  ·  registros deportivos completos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8AD2A-7F61-46EE-BEDD-7FBE7A8E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769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ABAC8"/>
                </a:solidFill>
                <a:latin typeface="Helvetica Neue"/>
                <a:ea typeface="Helvetica Neue"/>
                <a:cs typeface="Helvetica Neue"/>
              </a:rPr>
              <a:t>Las metas se acuerdan con el club; el resultado dependerá del uso y la configuración.</a:t>
            </a:r>
          </a:p>
        </p:txBody>
      </p:sp>
    </p:spTree>
    <p:extLst>
      <p:ext uri="{BB962C8B-B14F-4D97-AF65-F5344CB8AC3E}">
        <p14:creationId xmlns:p14="http://schemas.microsoft.com/office/powerpoint/2010/main" val="489903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2026-09-28T04:52:55.5310000Z</dcterms:created>
  <dcterms:modified xsi:type="dcterms:W3CDTF">2026-09-28T04:52:55.5310000Z</dcterms:modified>
</coreProperties>
</file>